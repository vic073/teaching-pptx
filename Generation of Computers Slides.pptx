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AFAF8"/>
                </a:solidFill>
                <a:latin typeface="Aptos"/>
              </a:rPr>
              <a:t>GENERATIONS</a:t>
            </a:r>
            <a:br/>
            <a:r>
              <a:t>OF COMPUTERS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EDCE7"/>
                </a:solidFill>
                <a:latin typeface="Aptos"/>
              </a:rPr>
              <a:t>From huge machines to smart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822960"/>
            <a:ext cx="3383280" cy="512064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75320" y="123444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DC7B3D"/>
          </a:solidFill>
          <a:ln>
            <a:solidFill>
              <a:srgbClr val="DC7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13990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1  VACUUM TUBES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10312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F7C144"/>
          </a:solidFill>
          <a:ln>
            <a:solidFill>
              <a:srgbClr val="F7C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2677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2  TRANSISTORS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97180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488A66"/>
          </a:solidFill>
          <a:ln>
            <a:solidFill>
              <a:srgbClr val="48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136391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3  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840479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00507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4  MICROPROCESSORS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709160"/>
            <a:ext cx="2743200" cy="621792"/>
          </a:xfrm>
          <a:prstGeom prst="roundRect">
            <a:avLst>
              <a:gd name="adj" fmla="val 8000"/>
            </a:avLst>
          </a:prstGeom>
          <a:solidFill>
            <a:srgbClr val="7A59A0"/>
          </a:solidFill>
          <a:ln>
            <a:solidFill>
              <a:srgbClr val="7A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48737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5 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7C144"/>
                </a:solidFill>
                <a:latin typeface="Aptos"/>
              </a:rPr>
              <a:t>LOOK • TALK • THINK •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1F2D"/>
                </a:solidFill>
                <a:latin typeface="Aptos"/>
              </a:rPr>
              <a:t>Before we start…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What does “generation” mean?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28016"/>
          </a:xfrm>
          <a:prstGeom prst="roundRect">
            <a:avLst>
              <a:gd name="adj" fmla="val 8000"/>
            </a:avLst>
          </a:prstGeom>
          <a:solidFill>
            <a:srgbClr val="DC7B3D"/>
          </a:solidFill>
          <a:ln>
            <a:solidFill>
              <a:srgbClr val="DC7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Aptos"/>
              </a:rPr>
              <a:t>1. Technology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4320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Aptos"/>
              </a:rPr>
              <a:t>A new generation used newer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337560" cy="128016"/>
          </a:xfrm>
          <a:prstGeom prst="roundRect">
            <a:avLst>
              <a:gd name="adj" fmla="val 8000"/>
            </a:avLst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Aptos"/>
              </a:rPr>
              <a:t>2. Computers improved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4320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Aptos"/>
              </a:rPr>
              <a:t>They became smaller, faster and easier to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337560" cy="128016"/>
          </a:xfrm>
          <a:prstGeom prst="roundRect">
            <a:avLst>
              <a:gd name="adj" fmla="val 8000"/>
            </a:avLst>
          </a:prstGeom>
          <a:solidFill>
            <a:srgbClr val="488A66"/>
          </a:solidFill>
          <a:ln>
            <a:solidFill>
              <a:srgbClr val="48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21031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Aptos"/>
              </a:rPr>
              <a:t>3. Ask yourself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743200"/>
            <a:ext cx="28803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7"/>
                </a:solidFill>
                <a:latin typeface="Aptos"/>
              </a:rPr>
              <a:t>What changed from one generation to the next?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89120"/>
            <a:ext cx="10789920" cy="1325880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144"/>
                </a:solidFill>
                <a:latin typeface="Aptos"/>
              </a:rPr>
              <a:t>QUICK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AFAF8"/>
                </a:solidFill>
                <a:latin typeface="Aptos"/>
              </a:rPr>
              <a:t>If a computer became smaller AND faster, is that an improvement?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EDCE7"/>
                </a:solidFill>
                <a:latin typeface="Aptos"/>
              </a:rPr>
              <a:t>Raise your hand: YES or 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53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F2D"/>
                </a:solidFill>
                <a:latin typeface="Aptos"/>
              </a:rPr>
              <a:t>GENERATION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868680"/>
            <a:ext cx="1920240" cy="347472"/>
          </a:xfrm>
          <a:prstGeom prst="roundRect">
            <a:avLst>
              <a:gd name="adj" fmla="val 8000"/>
            </a:avLst>
          </a:prstGeom>
          <a:solidFill>
            <a:srgbClr val="DC7B3D"/>
          </a:solidFill>
          <a:ln>
            <a:solidFill>
              <a:srgbClr val="DC7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1940s–1958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C7B3D"/>
                </a:solidFill>
                <a:latin typeface="Aptos"/>
              </a:rPr>
              <a:t>TECHNOLOGY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Vacuum tubes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C7B3D"/>
                </a:solidFill>
                <a:latin typeface="Aptos"/>
              </a:rPr>
              <a:t>3 EASY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Very large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Used a lot of electricity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Produced a lot of heat and often broke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C7B3D"/>
                </a:solidFill>
                <a:latin typeface="Aptos"/>
              </a:rPr>
              <a:t>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Large mathematical calculations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Scientific work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Military calculations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1F2D"/>
                </a:solidFill>
                <a:latin typeface="Aptos"/>
              </a:rPr>
              <a:t>LOOK AT THE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1295" y="5577840"/>
            <a:ext cx="2056018" cy="365760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3831336"/>
            <a:ext cx="3026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FAFAF8"/>
                </a:solidFill>
                <a:latin typeface="Aptos"/>
              </a:rPr>
              <a:t>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5630025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Example: ENIAC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83296" y="3831336"/>
            <a:ext cx="33467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FAFAF8"/>
                </a:solidFill>
                <a:latin typeface="Aptos"/>
              </a:rPr>
              <a:t>EXAMPLE: ENIAC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010912"/>
            <a:ext cx="6355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AFAF8"/>
                </a:solidFill>
                <a:latin typeface="Aptos"/>
              </a:rPr>
              <a:t>Which photo shows the technology?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4175" y="5618989"/>
            <a:ext cx="2056018" cy="2992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CA" sz="1300" dirty="0">
                <a:solidFill>
                  <a:srgbClr val="CEDCE7"/>
                </a:solidFill>
                <a:latin typeface="Aptos"/>
              </a:rPr>
              <a:t>Vacuum tubes</a:t>
            </a:r>
            <a:endParaRPr sz="1300" b="0" dirty="0">
              <a:solidFill>
                <a:srgbClr val="CEDCE7"/>
              </a:solidFill>
              <a:latin typeface="Apto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D2CDEA-70ED-A55A-2620-7E47E231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797" y="932688"/>
            <a:ext cx="3026663" cy="45399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40983D-31FA-7AD8-B711-D05133094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240" y="1042416"/>
            <a:ext cx="4522675" cy="43982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F2D"/>
                </a:solidFill>
                <a:latin typeface="Aptos"/>
              </a:rPr>
              <a:t>GENERATION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868680"/>
            <a:ext cx="1920240" cy="347472"/>
          </a:xfrm>
          <a:prstGeom prst="roundRect">
            <a:avLst>
              <a:gd name="adj" fmla="val 8000"/>
            </a:avLst>
          </a:prstGeom>
          <a:solidFill>
            <a:srgbClr val="F7C144"/>
          </a:solidFill>
          <a:ln>
            <a:solidFill>
              <a:srgbClr val="F7C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1958–1964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144"/>
                </a:solidFill>
                <a:latin typeface="Aptos"/>
              </a:rPr>
              <a:t>TECHNOLOGY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Transistors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144"/>
                </a:solidFill>
                <a:latin typeface="Aptos"/>
              </a:rPr>
              <a:t>3 EASY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Smaller than vacuum-tube computers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Faster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Produced less heat and were more reliable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144"/>
                </a:solidFill>
                <a:latin typeface="Aptos"/>
              </a:rPr>
              <a:t>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Science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Business work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Early computer games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1F2D"/>
                </a:solidFill>
                <a:latin typeface="Aptos"/>
              </a:rPr>
              <a:t>LOOK AT THE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6012180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Transistors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636008" y="3831336"/>
            <a:ext cx="3026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1827" y="6010866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Example: IBM 1400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754880" y="5010912"/>
            <a:ext cx="6355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AFAF8"/>
                </a:solidFill>
                <a:latin typeface="Aptos"/>
              </a:rPr>
              <a:t>What changed from Generation 1?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65099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EDCE7"/>
                </a:solidFill>
                <a:latin typeface="Aptos"/>
              </a:rPr>
              <a:t>Turn to a friend and give one answer.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8C5159-2F67-37E6-6CF7-2454E1B0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55" y="1047750"/>
            <a:ext cx="3465788" cy="487756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3CA63B0-EDD7-3EA4-CE0E-4671E6482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023" y="1047750"/>
            <a:ext cx="3533702" cy="4877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F2D"/>
                </a:solidFill>
                <a:latin typeface="Aptos"/>
              </a:rPr>
              <a:t>GENERATION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868680"/>
            <a:ext cx="1920240" cy="347472"/>
          </a:xfrm>
          <a:prstGeom prst="roundRect">
            <a:avLst>
              <a:gd name="adj" fmla="val 8000"/>
            </a:avLst>
          </a:prstGeom>
          <a:solidFill>
            <a:srgbClr val="488A66"/>
          </a:solidFill>
          <a:ln>
            <a:solidFill>
              <a:srgbClr val="48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1964–1970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8A66"/>
                </a:solidFill>
                <a:latin typeface="Aptos"/>
              </a:rPr>
              <a:t>TECHNOLOGY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Integrated circuits (ICs)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8A66"/>
                </a:solidFill>
                <a:latin typeface="Aptos"/>
              </a:rPr>
              <a:t>3 EASY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Many tiny circuits on one chip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Smaller than before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Easier to program and maintain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88A66"/>
                </a:solidFill>
                <a:latin typeface="Aptos"/>
              </a:rPr>
              <a:t>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Word processing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Calculations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Business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1F2D"/>
                </a:solidFill>
                <a:latin typeface="Aptos"/>
              </a:rPr>
              <a:t>LOOK AT THE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6016752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Intergrated</a:t>
            </a:r>
            <a:r>
              <a:rPr lang="en-CA" dirty="0"/>
              <a:t> circuits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083296" y="5998148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Example: IBM System 360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83296" y="3831336"/>
            <a:ext cx="33467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EXAMPLE: IBM SYSTEM/360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65099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EDCE7"/>
                </a:solidFill>
                <a:latin typeface="Aptos"/>
              </a:rPr>
              <a:t>Turn to a friend and give one answer.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93FD10C-EA97-D7BF-147A-670F264F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593" y="1581912"/>
            <a:ext cx="3444109" cy="4343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22B3713-8CF7-676E-11AC-63DBDDB7A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577" y="1828800"/>
            <a:ext cx="316382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F2D"/>
                </a:solidFill>
                <a:latin typeface="Aptos"/>
              </a:rPr>
              <a:t>GENERATION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868680"/>
            <a:ext cx="1920240" cy="347472"/>
          </a:xfrm>
          <a:prstGeom prst="roundRect">
            <a:avLst>
              <a:gd name="adj" fmla="val 8000"/>
            </a:avLst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1970–present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6991"/>
                </a:solidFill>
                <a:latin typeface="Aptos"/>
              </a:rPr>
              <a:t>TECHNOLOGY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Microprocessors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6991"/>
                </a:solidFill>
                <a:latin typeface="Aptos"/>
              </a:rPr>
              <a:t>3 EASY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Very small electronic circuits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Computers became much smaller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Low heat and easier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6991"/>
                </a:solidFill>
                <a:latin typeface="Aptos"/>
              </a:rPr>
              <a:t>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Personal computers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Business and financial work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Networks and the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1F2D"/>
                </a:solidFill>
                <a:latin typeface="Aptos"/>
              </a:rPr>
              <a:t>LOOK AT THE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6053328"/>
            <a:ext cx="324612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Microprocessor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480560" y="5120641"/>
            <a:ext cx="3026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3027" y="6089904"/>
            <a:ext cx="3566160" cy="347472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Modern Computer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83296" y="3831336"/>
            <a:ext cx="33467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EXAMPLE: ALTAIR 8800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010912"/>
            <a:ext cx="6355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AFAF8"/>
                </a:solidFill>
                <a:latin typeface="Aptos"/>
              </a:rPr>
              <a:t>What devices around you have a processor?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650992"/>
            <a:ext cx="6126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EDCE7"/>
                </a:solidFill>
                <a:latin typeface="Aptos"/>
              </a:rPr>
              <a:t>Turn to a friend and give one answer.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5F4097-8383-15B8-76D7-3A140295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675" y="1760535"/>
            <a:ext cx="4059621" cy="43445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D723B7-43FE-A7B7-3713-1F598A875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806" y="1673352"/>
            <a:ext cx="4076871" cy="4076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31F2D"/>
                </a:solidFill>
                <a:latin typeface="Aptos"/>
              </a:rPr>
              <a:t>GENERATION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868680"/>
            <a:ext cx="1920240" cy="347472"/>
          </a:xfrm>
          <a:prstGeom prst="roundRect">
            <a:avLst>
              <a:gd name="adj" fmla="val 8000"/>
            </a:avLst>
          </a:prstGeom>
          <a:solidFill>
            <a:srgbClr val="7A59A0"/>
          </a:solidFill>
          <a:ln>
            <a:solidFill>
              <a:srgbClr val="7A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Today / modern computers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733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A59A0"/>
                </a:solidFill>
                <a:latin typeface="Aptos"/>
              </a:rPr>
              <a:t>TECHNOLOGY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Aptos"/>
              </a:rPr>
              <a:t>Artificial intelligence (AI) + powerful 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A59A0"/>
                </a:solidFill>
                <a:latin typeface="Aptos"/>
              </a:rPr>
              <a:t>3 EASY CHARACTERISTICS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7248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Very fast and powerful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Can use artificial intelligence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• Small devices can do many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A59A0"/>
                </a:solidFill>
                <a:latin typeface="Aptos"/>
              </a:rPr>
              <a:t>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Learning and communication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Internet and entertainment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Helping people make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1F2D"/>
                </a:solidFill>
                <a:latin typeface="Aptos"/>
              </a:rPr>
              <a:t>LOOK AT THE PHOTOS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612524"/>
            <a:ext cx="3246120" cy="331076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AI Chips/Advanced Computing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83296" y="3831336"/>
            <a:ext cx="33467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EXAMPLE: MODERN LAPTOP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68CC4D-87B4-3BA3-FAD0-82B048BCA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245" y="1831854"/>
            <a:ext cx="3683051" cy="3686175"/>
          </a:xfrm>
          <a:prstGeom prst="rect">
            <a:avLst/>
          </a:prstGeom>
        </p:spPr>
      </p:pic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0DC45DFF-FC10-453C-A351-88EBDB3495BF}"/>
              </a:ext>
            </a:extLst>
          </p:cNvPr>
          <p:cNvSpPr/>
          <p:nvPr/>
        </p:nvSpPr>
        <p:spPr>
          <a:xfrm>
            <a:off x="8535977" y="5612524"/>
            <a:ext cx="3246120" cy="331076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Modern Computers</a:t>
            </a:r>
            <a:endParaRPr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F544FCA-8D21-281F-B4D8-7FC594202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042" y="1115568"/>
            <a:ext cx="4013642" cy="43940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1F2D"/>
                </a:solidFill>
                <a:latin typeface="Aptos"/>
              </a:rPr>
              <a:t>Let’s compare!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93B"/>
                </a:solidFill>
                <a:latin typeface="Aptos"/>
              </a:rPr>
              <a:t>What happened as computers changed?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71907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00200"/>
            <a:ext cx="2743200" cy="502920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171907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Main technology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92240" cy="502920"/>
          </a:xfrm>
          <a:prstGeom prst="roundRect">
            <a:avLst>
              <a:gd name="adj" fmla="val 8000"/>
            </a:avLst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59" y="1719072"/>
            <a:ext cx="630935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"/>
              </a:rPr>
              <a:t>What changed?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920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313432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1st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148840"/>
            <a:ext cx="274320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0048" y="2313432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Vacuum tubes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148840"/>
            <a:ext cx="6492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13248" y="2313432"/>
            <a:ext cx="6272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Very large • Hot • Slow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62072"/>
            <a:ext cx="192024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026664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2nd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862072"/>
            <a:ext cx="274320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3026664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Transistors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862072"/>
            <a:ext cx="649224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3026664"/>
            <a:ext cx="6272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Smaller • Faster • More reliable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75304"/>
            <a:ext cx="1920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739896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3rd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575304"/>
            <a:ext cx="274320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70048" y="3739896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Integrated circuits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3575304"/>
            <a:ext cx="6492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13248" y="3739896"/>
            <a:ext cx="6272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Smaller • Easier to use • More capable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88536"/>
            <a:ext cx="192024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453127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4th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288536"/>
            <a:ext cx="274320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70048" y="4453127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Microprocessors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288536"/>
            <a:ext cx="6492240" cy="658368"/>
          </a:xfrm>
          <a:prstGeom prst="rect">
            <a:avLst/>
          </a:prstGeom>
          <a:solidFill>
            <a:srgbClr val="FAFAF8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13248" y="4453127"/>
            <a:ext cx="6272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Much smaller • Personal computers • Networks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01768"/>
            <a:ext cx="1920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5166360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5th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5001768"/>
            <a:ext cx="274320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70048" y="5166360"/>
            <a:ext cx="25237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AI + powerful processors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5001768"/>
            <a:ext cx="6492240" cy="658368"/>
          </a:xfrm>
          <a:prstGeom prst="rect">
            <a:avLst/>
          </a:prstGeom>
          <a:solidFill>
            <a:srgbClr val="EDF1F4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3248" y="5166360"/>
            <a:ext cx="6272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Very fast • Smart features • Connected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897880"/>
            <a:ext cx="10927080" cy="50292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>
            <a:solidFill>
              <a:srgbClr val="FFF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6025896"/>
            <a:ext cx="10469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Aptos"/>
              </a:rPr>
              <a:t>THINK: Which generation is the computer you are using today?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F2D"/>
          </a:solidFill>
          <a:ln>
            <a:solidFill>
              <a:srgbClr val="13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AFAF8"/>
                </a:solidFill>
                <a:latin typeface="Aptos"/>
              </a:rPr>
              <a:t>CLASS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CEDCE7"/>
                </a:solidFill>
                <a:latin typeface="Aptos"/>
              </a:rPr>
              <a:t>Match the technology to the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VACUUM TUBES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DC7B3D"/>
          </a:solidFill>
          <a:ln>
            <a:solidFill>
              <a:srgbClr val="DC7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"/>
              </a:rPr>
              <a:t>1st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TRANSISTORS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146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7C144"/>
          </a:solidFill>
          <a:ln>
            <a:solidFill>
              <a:srgbClr val="F7C1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"/>
              </a:rPr>
              <a:t>2nd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3375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INTEGRATED CIRCUITS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004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488A66"/>
          </a:solidFill>
          <a:ln>
            <a:solidFill>
              <a:srgbClr val="488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"/>
              </a:rPr>
              <a:t>3rd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862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0233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MICROPROCESSORS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862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2A6991"/>
          </a:solidFill>
          <a:ln>
            <a:solidFill>
              <a:srgbClr val="2A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0233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"/>
              </a:rPr>
              <a:t>4th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572000"/>
            <a:ext cx="4846320" cy="502920"/>
          </a:xfrm>
          <a:prstGeom prst="roundRect">
            <a:avLst>
              <a:gd name="adj" fmla="val 8000"/>
            </a:avLst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70916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7A59A0"/>
          </a:solidFill>
          <a:ln>
            <a:solidFill>
              <a:srgbClr val="7A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470916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"/>
              </a:rPr>
              <a:t>5th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144"/>
                </a:solidFill>
                <a:latin typeface="Aptos"/>
              </a:rPr>
              <a:t>FINAL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2402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AFAF8"/>
                </a:solidFill>
                <a:latin typeface="Aptos"/>
              </a:rPr>
              <a:t>Why do you think computers became smaller over time?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0233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EDCE7"/>
                </a:solidFill>
                <a:latin typeface="Aptos"/>
              </a:rPr>
              <a:t>Discuss with your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31F2D"/>
                </a:solidFill>
                <a:latin typeface="Aptos"/>
              </a:rPr>
              <a:t>PHOTO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Real photographs used in the generation slides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37360"/>
            <a:ext cx="10287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1. ENIAC vacuum tubes + ENIAC — Wikimedia Commons (public-domain ENIAC photo; CC BY 2.0 tube photo)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10287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2. Transistor + IBM 1401 — Wikimedia Commons (CC BY 2.0 transistor photo; public-domain IBM 1401 photo)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10287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3. Integrated circuit + IBM System/360 — Wikimedia Commons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794760"/>
            <a:ext cx="10287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4. Intel 4004 microprocessor + Altair 8800 — Wikimedia Commons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10744200" cy="530352"/>
          </a:xfrm>
          <a:prstGeom prst="roundRect">
            <a:avLst>
              <a:gd name="adj" fmla="val 8000"/>
            </a:avLst>
          </a:prstGeom>
          <a:solidFill>
            <a:srgbClr val="EDF1F4"/>
          </a:solidFill>
          <a:ln>
            <a:solidFill>
              <a:srgbClr val="ED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4480560"/>
            <a:ext cx="10287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5. Hailo AI Accelerator + modern laptop — Wikimedia Commons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977"/>
                </a:solidFill>
                <a:latin typeface="Aptos"/>
              </a:rPr>
              <a:t>The deck content follows the attached teaching material.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977"/>
                </a:solidFill>
                <a:latin typeface="Aptos"/>
              </a:rPr>
              <a:t>Image pages/credits are linked in the photo captions/source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641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chilomo</cp:lastModifiedBy>
  <cp:revision>2</cp:revision>
  <dcterms:created xsi:type="dcterms:W3CDTF">2013-01-27T09:14:16Z</dcterms:created>
  <dcterms:modified xsi:type="dcterms:W3CDTF">2026-09-30T12:11:49Z</dcterms:modified>
  <cp:category/>
</cp:coreProperties>
</file>